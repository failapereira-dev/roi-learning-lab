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6B083-6005-4FF0-87DD-38F60A12FB70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E9A97-FBE2-4833-8C78-1F213E2C8D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1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e9f77689c_4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29e9f77689c_4_10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e9f77689c_4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29e9f77689c_4_12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327E8-954D-2788-AB55-E8D38C102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E9B138-04F6-491D-C3FE-541E481B8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080D8D-AAA6-521A-7749-9F911857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67132-B50E-CD76-75B2-2E8EF5A5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7E83AD-6B0B-600E-0D5C-227E715B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3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43686-BB8E-B415-C2A2-5DD1843E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71202-1715-0029-FABE-BDF2D4D5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808087-FEAA-7F83-A44C-A809B6A6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8ADD49-9981-EC91-911C-B025634D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7E614D-5748-8474-29C7-45B81187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63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19265-D4B5-B665-F113-54B5028F2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CB166D-8A0A-E1D3-FEF3-37BDBDAE9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4C711A-878B-8C76-D26D-75CB0B0A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29C51E-9BC8-38F5-6C49-21C16275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F3E5A4-AC72-2035-7737-C21BADD1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62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DEBCE-D35C-1EB6-153F-1535FB53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094894-867D-0E12-3726-E95F0A241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7E57FF-E35F-18C8-E753-5ADAE6852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811845-D33B-3328-1DB5-7318F3B5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61484A-519A-E30C-C44E-72BBA876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C6F4FA-0885-0103-1E12-DAEC41E5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561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850DD-B0C6-C2DE-D2E8-4E335035F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5AD509-EB97-D281-BB72-11C5A4692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2263E3-357C-74AD-318D-5056CC857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BE2366-879B-4AE0-B4EF-B173C0ACB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FE1CE0-2BBE-3B35-DD97-E67D02C01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6A1428-2EAF-3522-8CA4-031E9025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C0E3AF-38F2-A29B-0699-725B90B4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8E0876-372E-0DEC-0B11-E1B72FA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96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1A098-4891-F534-98E8-33DE2CA1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3AC37-7368-B932-FC2C-6F133C64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F067E6-A4BA-3479-8667-A800707B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091CA1-2724-030D-47C9-C131A8A3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48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F97C59-50D9-0347-5DC5-E4E75940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DAB8BD-16A9-AF33-84DD-8DAE2FF1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927AB0-6DE9-6CE2-F240-D3253ACE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69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F1E39-4D88-7903-8A77-AB55D336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6DDAFB-A080-E003-040A-B5C9049CE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2C4A9D-3ECB-71FD-E151-AD9CE7696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2D3F1A-E5F0-4EB0-1824-D1BF0F0B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FFB39F-2ABE-C386-4A47-3CAB5605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C5E61F-D5CA-59F1-E118-986E5DDD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87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39249-DAA0-20D7-4998-78081BF9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60397A-5ED7-1378-AF97-E7C2ACB05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D8446-6A0F-D1C5-FC30-25C6FD26D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453258-C211-B297-1418-53C2051C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07E8BE-F930-23AE-DE94-E6C209EA4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58DE75-B65A-ABA6-9B9D-4D5E8269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38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9701C-C1E7-6F44-1F53-C449A057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AEBB4B-877B-2F9E-1AB4-021C0D9B3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AFCC5D-AEBC-5A4C-7909-9D9197C7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F6D553-87BC-1E13-6578-E4822197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D7E61E-0850-8F26-65EF-57263978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36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B806B8-2AB1-EADA-E7A2-23564887C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790C47-8504-22A9-08A1-8F1E8A8F0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88F3F-5163-6773-30E5-56A033F7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22D990-4DD0-90EF-B1B0-41EF6900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020E2B-7F33-A53C-95B1-1CBFC487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6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BFFAD8-86FB-8E9D-E5FF-37939D07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B62911-3FEE-066D-D351-E490F81A4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84CEDC-9F8E-CB9B-3E9D-9630F2F26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36950-B920-4024-9751-A0961E29BA72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81BFA3-A756-146F-BEA6-47121D081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C0E15E-1416-F96D-3CF9-412F07F56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7EE81-3B59-46C1-8162-B254D49A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42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e9f77689c_4_102"/>
          <p:cNvSpPr/>
          <p:nvPr/>
        </p:nvSpPr>
        <p:spPr>
          <a:xfrm>
            <a:off x="184050" y="1385733"/>
            <a:ext cx="11807600" cy="167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g29e9f77689c_4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114441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9e9f77689c_4_102"/>
          <p:cNvSpPr txBox="1"/>
          <p:nvPr/>
        </p:nvSpPr>
        <p:spPr>
          <a:xfrm>
            <a:off x="964633" y="197509"/>
            <a:ext cx="9482000" cy="97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n-US" sz="2400" b="1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rPr>
              <a:t>Cardiologia: Insuficiência cardíaca e Cardiomiopatias</a:t>
            </a:r>
            <a:endParaRPr sz="2400" b="1">
              <a:solidFill>
                <a:schemeClr val="lt1"/>
              </a:solidFill>
              <a:latin typeface="Philosopher"/>
              <a:ea typeface="Philosopher"/>
              <a:cs typeface="Philosopher"/>
              <a:sym typeface="Philosopher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4800"/>
            </a:pPr>
            <a:endParaRPr sz="2400" b="1">
              <a:solidFill>
                <a:schemeClr val="lt1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pic>
        <p:nvPicPr>
          <p:cNvPr id="101" name="Google Shape;101;g29e9f77689c_4_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1992" y="307467"/>
            <a:ext cx="1090126" cy="51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9e9f77689c_4_102"/>
          <p:cNvSpPr txBox="1"/>
          <p:nvPr/>
        </p:nvSpPr>
        <p:spPr>
          <a:xfrm>
            <a:off x="327517" y="1514034"/>
            <a:ext cx="11340800" cy="98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21011"/>
              </a:lnSpc>
              <a:buClr>
                <a:srgbClr val="000000"/>
              </a:buClr>
              <a:buSzPts val="2800"/>
            </a:pP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Objetivo</a:t>
            </a:r>
            <a:r>
              <a:rPr lang="en-US" sz="2600" b="1" dirty="0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 Geral</a:t>
            </a:r>
          </a:p>
          <a:p>
            <a:pPr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Atualizar</a:t>
            </a:r>
            <a:endParaRPr lang="pt-BR" sz="1600" dirty="0">
              <a:solidFill>
                <a:schemeClr val="dk1"/>
              </a:solidFill>
            </a:endParaRPr>
          </a:p>
        </p:txBody>
      </p:sp>
      <p:sp>
        <p:nvSpPr>
          <p:cNvPr id="103" name="Google Shape;103;g29e9f77689c_4_102"/>
          <p:cNvSpPr/>
          <p:nvPr/>
        </p:nvSpPr>
        <p:spPr>
          <a:xfrm>
            <a:off x="184050" y="3263650"/>
            <a:ext cx="6011800" cy="31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29e9f77689c_4_102"/>
          <p:cNvSpPr txBox="1"/>
          <p:nvPr/>
        </p:nvSpPr>
        <p:spPr>
          <a:xfrm>
            <a:off x="300950" y="3429984"/>
            <a:ext cx="5601400" cy="188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Objetivos</a:t>
            </a:r>
            <a:r>
              <a:rPr lang="en-US" sz="2600" b="1" dirty="0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 </a:t>
            </a: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Específicos</a:t>
            </a:r>
            <a:endParaRPr lang="en-US" sz="2600" b="1" dirty="0">
              <a:solidFill>
                <a:srgbClr val="004D87"/>
              </a:solidFill>
              <a:latin typeface="Philosopher"/>
              <a:ea typeface="Philosopher"/>
              <a:cs typeface="Philosopher"/>
              <a:sym typeface="Philosopher"/>
            </a:endParaRPr>
          </a:p>
          <a:p>
            <a:pPr marL="304815" indent="-266713">
              <a:spcBef>
                <a:spcPts val="800"/>
              </a:spcBef>
              <a:buClr>
                <a:schemeClr val="dk2"/>
              </a:buClr>
              <a:buSzPts val="2700"/>
              <a:buFont typeface="Ubuntu"/>
              <a:buChar char="●"/>
            </a:pPr>
            <a:r>
              <a:rPr lang="pt-BR" dirty="0" err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xxx</a:t>
            </a:r>
            <a:endParaRPr lang="pt-BR"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304815" indent="-266713">
              <a:spcBef>
                <a:spcPts val="667"/>
              </a:spcBef>
              <a:buClr>
                <a:schemeClr val="dk2"/>
              </a:buClr>
              <a:buSzPts val="2700"/>
              <a:buFont typeface="Ubuntu"/>
              <a:buChar char="●"/>
            </a:pPr>
            <a:r>
              <a:rPr lang="pt-BR" dirty="0" err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xxx</a:t>
            </a:r>
            <a:endParaRPr lang="pt-BR"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304815" indent="-266713">
              <a:spcBef>
                <a:spcPts val="667"/>
              </a:spcBef>
              <a:spcAft>
                <a:spcPts val="667"/>
              </a:spcAft>
              <a:buClr>
                <a:schemeClr val="dk2"/>
              </a:buClr>
              <a:buSzPts val="2700"/>
              <a:buFont typeface="Ubuntu"/>
              <a:buChar char="●"/>
            </a:pPr>
            <a:r>
              <a:rPr lang="pt-BR" dirty="0" err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xxx</a:t>
            </a:r>
            <a:endParaRPr lang="pt-BR"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5" name="Google Shape;105;g29e9f77689c_4_102"/>
          <p:cNvSpPr/>
          <p:nvPr/>
        </p:nvSpPr>
        <p:spPr>
          <a:xfrm>
            <a:off x="6390067" y="3263650"/>
            <a:ext cx="5601600" cy="3176000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>
              <a:spcAft>
                <a:spcPts val="667"/>
              </a:spcAft>
            </a:pPr>
            <a:endParaRPr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6" name="Google Shape;106;g29e9f77689c_4_102"/>
          <p:cNvSpPr txBox="1"/>
          <p:nvPr/>
        </p:nvSpPr>
        <p:spPr>
          <a:xfrm>
            <a:off x="6600917" y="3429983"/>
            <a:ext cx="5288600" cy="97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r>
              <a:rPr lang="en-US" sz="2600" b="1" dirty="0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Público-</a:t>
            </a: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alvo</a:t>
            </a:r>
            <a:endParaRPr lang="en-US" sz="2600" b="1" dirty="0">
              <a:solidFill>
                <a:srgbClr val="004D87"/>
              </a:solidFill>
              <a:latin typeface="Philosopher"/>
              <a:ea typeface="Philosopher"/>
              <a:cs typeface="Philosopher"/>
              <a:sym typeface="Philosopher"/>
            </a:endParaRPr>
          </a:p>
          <a:p>
            <a:pPr>
              <a:spcBef>
                <a:spcPts val="667"/>
              </a:spcBef>
              <a:spcAft>
                <a:spcPts val="667"/>
              </a:spcAft>
            </a:pPr>
            <a:r>
              <a:rPr lang="pt-BR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Destinado</a:t>
            </a:r>
          </a:p>
        </p:txBody>
      </p:sp>
      <p:sp>
        <p:nvSpPr>
          <p:cNvPr id="107" name="Google Shape;107;g29e9f77689c_4_102"/>
          <p:cNvSpPr txBox="1"/>
          <p:nvPr/>
        </p:nvSpPr>
        <p:spPr>
          <a:xfrm>
            <a:off x="964633" y="618717"/>
            <a:ext cx="10505200" cy="42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Carga </a:t>
            </a:r>
            <a:r>
              <a:rPr lang="en-US" sz="1733" dirty="0" err="1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horária</a:t>
            </a: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: </a:t>
            </a:r>
            <a:r>
              <a:rPr lang="en-US" sz="1733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360h</a:t>
            </a: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  |   </a:t>
            </a:r>
            <a:r>
              <a:rPr lang="en-US" sz="1733" dirty="0" err="1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Modalidade</a:t>
            </a: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: </a:t>
            </a:r>
            <a:r>
              <a:rPr lang="en-US" sz="1733" b="1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Presencial</a:t>
            </a:r>
            <a:r>
              <a:rPr lang="en-US" sz="1733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endParaRPr sz="1733" dirty="0">
              <a:solidFill>
                <a:schemeClr val="lt1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108" name="Google Shape;108;g29e9f77689c_4_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3501" y="338983"/>
            <a:ext cx="12192" cy="5852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g29e9f77689c_4_102"/>
          <p:cNvGrpSpPr/>
          <p:nvPr/>
        </p:nvGrpSpPr>
        <p:grpSpPr>
          <a:xfrm>
            <a:off x="152438" y="381685"/>
            <a:ext cx="591462" cy="499808"/>
            <a:chOff x="6158577" y="5428184"/>
            <a:chExt cx="284002" cy="240008"/>
          </a:xfrm>
        </p:grpSpPr>
        <p:sp>
          <p:nvSpPr>
            <p:cNvPr id="110" name="Google Shape;110;g29e9f77689c_4_102"/>
            <p:cNvSpPr/>
            <p:nvPr/>
          </p:nvSpPr>
          <p:spPr>
            <a:xfrm>
              <a:off x="6166551" y="5428184"/>
              <a:ext cx="276028" cy="240008"/>
            </a:xfrm>
            <a:custGeom>
              <a:avLst/>
              <a:gdLst/>
              <a:ahLst/>
              <a:cxnLst/>
              <a:rect l="l" t="t" r="r" b="b"/>
              <a:pathLst>
                <a:path w="8100" h="7043" extrusionOk="0">
                  <a:moveTo>
                    <a:pt x="2155" y="0"/>
                  </a:moveTo>
                  <a:cubicBezTo>
                    <a:pt x="805" y="0"/>
                    <a:pt x="0" y="1272"/>
                    <a:pt x="0" y="2518"/>
                  </a:cubicBezTo>
                  <a:cubicBezTo>
                    <a:pt x="0" y="2830"/>
                    <a:pt x="52" y="3141"/>
                    <a:pt x="182" y="3427"/>
                  </a:cubicBezTo>
                  <a:cubicBezTo>
                    <a:pt x="209" y="3481"/>
                    <a:pt x="255" y="3504"/>
                    <a:pt x="300" y="3504"/>
                  </a:cubicBezTo>
                  <a:cubicBezTo>
                    <a:pt x="385" y="3504"/>
                    <a:pt x="466" y="3424"/>
                    <a:pt x="416" y="3323"/>
                  </a:cubicBezTo>
                  <a:cubicBezTo>
                    <a:pt x="312" y="3063"/>
                    <a:pt x="260" y="2778"/>
                    <a:pt x="260" y="2518"/>
                  </a:cubicBezTo>
                  <a:cubicBezTo>
                    <a:pt x="260" y="1428"/>
                    <a:pt x="909" y="260"/>
                    <a:pt x="2155" y="260"/>
                  </a:cubicBezTo>
                  <a:cubicBezTo>
                    <a:pt x="2856" y="260"/>
                    <a:pt x="3531" y="597"/>
                    <a:pt x="3946" y="1194"/>
                  </a:cubicBezTo>
                  <a:cubicBezTo>
                    <a:pt x="3972" y="1220"/>
                    <a:pt x="3998" y="1246"/>
                    <a:pt x="4050" y="1246"/>
                  </a:cubicBezTo>
                  <a:cubicBezTo>
                    <a:pt x="4102" y="1246"/>
                    <a:pt x="4128" y="1220"/>
                    <a:pt x="4154" y="1194"/>
                  </a:cubicBezTo>
                  <a:cubicBezTo>
                    <a:pt x="4595" y="623"/>
                    <a:pt x="5244" y="260"/>
                    <a:pt x="5971" y="260"/>
                  </a:cubicBezTo>
                  <a:cubicBezTo>
                    <a:pt x="7191" y="260"/>
                    <a:pt x="7866" y="1428"/>
                    <a:pt x="7866" y="2518"/>
                  </a:cubicBezTo>
                  <a:cubicBezTo>
                    <a:pt x="7866" y="3479"/>
                    <a:pt x="7088" y="4206"/>
                    <a:pt x="6620" y="4647"/>
                  </a:cubicBezTo>
                  <a:cubicBezTo>
                    <a:pt x="6542" y="4699"/>
                    <a:pt x="6490" y="4777"/>
                    <a:pt x="6439" y="4829"/>
                  </a:cubicBezTo>
                  <a:cubicBezTo>
                    <a:pt x="6283" y="4958"/>
                    <a:pt x="5867" y="5296"/>
                    <a:pt x="5426" y="5608"/>
                  </a:cubicBezTo>
                  <a:cubicBezTo>
                    <a:pt x="4933" y="5945"/>
                    <a:pt x="4491" y="6308"/>
                    <a:pt x="4050" y="6698"/>
                  </a:cubicBezTo>
                  <a:cubicBezTo>
                    <a:pt x="3791" y="6438"/>
                    <a:pt x="3479" y="6205"/>
                    <a:pt x="3193" y="5997"/>
                  </a:cubicBezTo>
                  <a:cubicBezTo>
                    <a:pt x="3169" y="5982"/>
                    <a:pt x="3145" y="5976"/>
                    <a:pt x="3122" y="5976"/>
                  </a:cubicBezTo>
                  <a:cubicBezTo>
                    <a:pt x="3023" y="5976"/>
                    <a:pt x="2953" y="6094"/>
                    <a:pt x="3038" y="6179"/>
                  </a:cubicBezTo>
                  <a:cubicBezTo>
                    <a:pt x="3739" y="6724"/>
                    <a:pt x="3894" y="6906"/>
                    <a:pt x="3946" y="6957"/>
                  </a:cubicBezTo>
                  <a:cubicBezTo>
                    <a:pt x="3946" y="7009"/>
                    <a:pt x="3998" y="7035"/>
                    <a:pt x="4050" y="7035"/>
                  </a:cubicBezTo>
                  <a:cubicBezTo>
                    <a:pt x="4060" y="7040"/>
                    <a:pt x="4069" y="7042"/>
                    <a:pt x="4079" y="7042"/>
                  </a:cubicBezTo>
                  <a:cubicBezTo>
                    <a:pt x="4120" y="7042"/>
                    <a:pt x="4159" y="7000"/>
                    <a:pt x="4180" y="6957"/>
                  </a:cubicBezTo>
                  <a:cubicBezTo>
                    <a:pt x="4258" y="6802"/>
                    <a:pt x="5063" y="6205"/>
                    <a:pt x="5582" y="5815"/>
                  </a:cubicBezTo>
                  <a:cubicBezTo>
                    <a:pt x="5945" y="5556"/>
                    <a:pt x="6309" y="5296"/>
                    <a:pt x="6620" y="5010"/>
                  </a:cubicBezTo>
                  <a:lnTo>
                    <a:pt x="6802" y="4829"/>
                  </a:lnTo>
                  <a:cubicBezTo>
                    <a:pt x="7295" y="4361"/>
                    <a:pt x="8100" y="3583"/>
                    <a:pt x="8100" y="2518"/>
                  </a:cubicBezTo>
                  <a:cubicBezTo>
                    <a:pt x="8100" y="1272"/>
                    <a:pt x="7295" y="0"/>
                    <a:pt x="5945" y="0"/>
                  </a:cubicBezTo>
                  <a:cubicBezTo>
                    <a:pt x="5218" y="0"/>
                    <a:pt x="4517" y="338"/>
                    <a:pt x="4050" y="909"/>
                  </a:cubicBezTo>
                  <a:cubicBezTo>
                    <a:pt x="3583" y="338"/>
                    <a:pt x="2882" y="0"/>
                    <a:pt x="2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29e9f77689c_4_102"/>
            <p:cNvSpPr/>
            <p:nvPr/>
          </p:nvSpPr>
          <p:spPr>
            <a:xfrm>
              <a:off x="6198380" y="5573695"/>
              <a:ext cx="41609" cy="38508"/>
            </a:xfrm>
            <a:custGeom>
              <a:avLst/>
              <a:gdLst/>
              <a:ahLst/>
              <a:cxnLst/>
              <a:rect l="l" t="t" r="r" b="b"/>
              <a:pathLst>
                <a:path w="1221" h="1130" extrusionOk="0">
                  <a:moveTo>
                    <a:pt x="144" y="1"/>
                  </a:moveTo>
                  <a:cubicBezTo>
                    <a:pt x="111" y="1"/>
                    <a:pt x="79" y="14"/>
                    <a:pt x="53" y="39"/>
                  </a:cubicBezTo>
                  <a:cubicBezTo>
                    <a:pt x="1" y="91"/>
                    <a:pt x="1" y="169"/>
                    <a:pt x="53" y="221"/>
                  </a:cubicBezTo>
                  <a:cubicBezTo>
                    <a:pt x="157" y="351"/>
                    <a:pt x="260" y="455"/>
                    <a:pt x="364" y="559"/>
                  </a:cubicBezTo>
                  <a:lnTo>
                    <a:pt x="546" y="740"/>
                  </a:lnTo>
                  <a:cubicBezTo>
                    <a:pt x="702" y="870"/>
                    <a:pt x="832" y="974"/>
                    <a:pt x="987" y="1104"/>
                  </a:cubicBezTo>
                  <a:cubicBezTo>
                    <a:pt x="1013" y="1104"/>
                    <a:pt x="1039" y="1130"/>
                    <a:pt x="1065" y="1130"/>
                  </a:cubicBezTo>
                  <a:cubicBezTo>
                    <a:pt x="1117" y="1130"/>
                    <a:pt x="1143" y="1104"/>
                    <a:pt x="1169" y="1078"/>
                  </a:cubicBezTo>
                  <a:cubicBezTo>
                    <a:pt x="1221" y="1026"/>
                    <a:pt x="1221" y="948"/>
                    <a:pt x="1143" y="896"/>
                  </a:cubicBezTo>
                  <a:cubicBezTo>
                    <a:pt x="961" y="740"/>
                    <a:pt x="780" y="611"/>
                    <a:pt x="728" y="559"/>
                  </a:cubicBezTo>
                  <a:cubicBezTo>
                    <a:pt x="676" y="507"/>
                    <a:pt x="650" y="481"/>
                    <a:pt x="546" y="377"/>
                  </a:cubicBezTo>
                  <a:cubicBezTo>
                    <a:pt x="442" y="273"/>
                    <a:pt x="338" y="169"/>
                    <a:pt x="234" y="39"/>
                  </a:cubicBezTo>
                  <a:cubicBezTo>
                    <a:pt x="209" y="14"/>
                    <a:pt x="176" y="1"/>
                    <a:pt x="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29e9f77689c_4_102"/>
            <p:cNvSpPr/>
            <p:nvPr/>
          </p:nvSpPr>
          <p:spPr>
            <a:xfrm>
              <a:off x="6158577" y="5468873"/>
              <a:ext cx="194651" cy="177850"/>
            </a:xfrm>
            <a:custGeom>
              <a:avLst/>
              <a:gdLst/>
              <a:ahLst/>
              <a:cxnLst/>
              <a:rect l="l" t="t" r="r" b="b"/>
              <a:pathLst>
                <a:path w="5712" h="5219" extrusionOk="0">
                  <a:moveTo>
                    <a:pt x="1844" y="0"/>
                  </a:moveTo>
                  <a:cubicBezTo>
                    <a:pt x="1792" y="0"/>
                    <a:pt x="1740" y="26"/>
                    <a:pt x="1714" y="78"/>
                  </a:cubicBezTo>
                  <a:lnTo>
                    <a:pt x="1013" y="2700"/>
                  </a:lnTo>
                  <a:lnTo>
                    <a:pt x="130" y="2700"/>
                  </a:lnTo>
                  <a:cubicBezTo>
                    <a:pt x="53" y="2700"/>
                    <a:pt x="1" y="2778"/>
                    <a:pt x="1" y="2830"/>
                  </a:cubicBezTo>
                  <a:cubicBezTo>
                    <a:pt x="1" y="2908"/>
                    <a:pt x="53" y="2960"/>
                    <a:pt x="130" y="2960"/>
                  </a:cubicBezTo>
                  <a:lnTo>
                    <a:pt x="1091" y="2960"/>
                  </a:lnTo>
                  <a:cubicBezTo>
                    <a:pt x="1143" y="2960"/>
                    <a:pt x="1195" y="2934"/>
                    <a:pt x="1221" y="2882"/>
                  </a:cubicBezTo>
                  <a:lnTo>
                    <a:pt x="1818" y="701"/>
                  </a:lnTo>
                  <a:lnTo>
                    <a:pt x="2623" y="5114"/>
                  </a:lnTo>
                  <a:cubicBezTo>
                    <a:pt x="2623" y="5166"/>
                    <a:pt x="2675" y="5218"/>
                    <a:pt x="2726" y="5218"/>
                  </a:cubicBezTo>
                  <a:cubicBezTo>
                    <a:pt x="2778" y="5218"/>
                    <a:pt x="2830" y="5192"/>
                    <a:pt x="2856" y="5140"/>
                  </a:cubicBezTo>
                  <a:lnTo>
                    <a:pt x="3895" y="1999"/>
                  </a:lnTo>
                  <a:lnTo>
                    <a:pt x="4284" y="2960"/>
                  </a:lnTo>
                  <a:cubicBezTo>
                    <a:pt x="4310" y="3012"/>
                    <a:pt x="4362" y="3038"/>
                    <a:pt x="4414" y="3038"/>
                  </a:cubicBezTo>
                  <a:lnTo>
                    <a:pt x="5582" y="3038"/>
                  </a:lnTo>
                  <a:cubicBezTo>
                    <a:pt x="5660" y="3038"/>
                    <a:pt x="5712" y="2986"/>
                    <a:pt x="5712" y="2908"/>
                  </a:cubicBezTo>
                  <a:cubicBezTo>
                    <a:pt x="5712" y="2830"/>
                    <a:pt x="5660" y="2778"/>
                    <a:pt x="5582" y="2778"/>
                  </a:cubicBezTo>
                  <a:lnTo>
                    <a:pt x="4518" y="2778"/>
                  </a:lnTo>
                  <a:lnTo>
                    <a:pt x="3999" y="1584"/>
                  </a:lnTo>
                  <a:cubicBezTo>
                    <a:pt x="3973" y="1532"/>
                    <a:pt x="3927" y="1506"/>
                    <a:pt x="3882" y="1506"/>
                  </a:cubicBezTo>
                  <a:cubicBezTo>
                    <a:pt x="3836" y="1506"/>
                    <a:pt x="3791" y="1532"/>
                    <a:pt x="3765" y="1584"/>
                  </a:cubicBezTo>
                  <a:lnTo>
                    <a:pt x="2778" y="4569"/>
                  </a:lnTo>
                  <a:lnTo>
                    <a:pt x="1974" y="104"/>
                  </a:lnTo>
                  <a:cubicBezTo>
                    <a:pt x="1974" y="52"/>
                    <a:pt x="1922" y="0"/>
                    <a:pt x="1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e9f77689c_4_120"/>
          <p:cNvSpPr/>
          <p:nvPr/>
        </p:nvSpPr>
        <p:spPr>
          <a:xfrm>
            <a:off x="184050" y="1334933"/>
            <a:ext cx="11807600" cy="533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29e9f77689c_4_120"/>
          <p:cNvSpPr txBox="1"/>
          <p:nvPr/>
        </p:nvSpPr>
        <p:spPr>
          <a:xfrm>
            <a:off x="300950" y="1521067"/>
            <a:ext cx="11135800" cy="262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Diferenciais</a:t>
            </a:r>
            <a:r>
              <a:rPr lang="en-US" sz="2600" b="1" dirty="0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 e </a:t>
            </a: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Metodologia</a:t>
            </a:r>
            <a:r>
              <a:rPr lang="en-US" sz="2600" b="1" dirty="0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 do </a:t>
            </a:r>
            <a:r>
              <a:rPr lang="en-US" sz="2600" b="1" dirty="0" err="1">
                <a:solidFill>
                  <a:srgbClr val="004D87"/>
                </a:solidFill>
                <a:latin typeface="Philosopher"/>
                <a:ea typeface="Philosopher"/>
                <a:cs typeface="Philosopher"/>
                <a:sym typeface="Philosopher"/>
              </a:rPr>
              <a:t>Curso</a:t>
            </a:r>
            <a:endParaRPr sz="2600" b="1" dirty="0">
              <a:solidFill>
                <a:srgbClr val="004D87"/>
              </a:solidFill>
              <a:latin typeface="Philosopher"/>
              <a:ea typeface="Philosopher"/>
              <a:cs typeface="Philosopher"/>
              <a:sym typeface="Philosopher"/>
            </a:endParaRPr>
          </a:p>
          <a:p>
            <a:pPr marL="304815" indent="-266713">
              <a:spcBef>
                <a:spcPts val="800"/>
              </a:spcBef>
              <a:buClr>
                <a:schemeClr val="dk2"/>
              </a:buClr>
              <a:buSzPts val="2700"/>
              <a:buFont typeface="Ubuntu"/>
              <a:buChar char="●"/>
            </a:pPr>
            <a:r>
              <a:rPr lang="pt-BR" dirty="0" err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xx</a:t>
            </a:r>
            <a:endParaRPr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304815" indent="-266713">
              <a:spcBef>
                <a:spcPts val="667"/>
              </a:spcBef>
              <a:buClr>
                <a:schemeClr val="dk2"/>
              </a:buClr>
              <a:buSzPts val="2700"/>
              <a:buFont typeface="Ubuntu"/>
              <a:buChar char="●"/>
            </a:pPr>
            <a:r>
              <a:rPr lang="pt-BR" dirty="0" err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xx</a:t>
            </a:r>
            <a:endParaRPr lang="pt-BR"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304815" indent="-266713">
              <a:spcBef>
                <a:spcPts val="667"/>
              </a:spcBef>
              <a:buClr>
                <a:schemeClr val="dk2"/>
              </a:buClr>
              <a:buSzPts val="2700"/>
              <a:buFont typeface="Ubuntu"/>
              <a:buChar char="●"/>
            </a:pPr>
            <a:r>
              <a:rPr lang="pt-BR" dirty="0" err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xx</a:t>
            </a:r>
            <a:endParaRPr lang="pt-BR"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38102">
              <a:spcBef>
                <a:spcPts val="667"/>
              </a:spcBef>
              <a:buClr>
                <a:schemeClr val="dk2"/>
              </a:buClr>
              <a:buSzPts val="2700"/>
            </a:pPr>
            <a:endParaRPr lang="pt-BR"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>
              <a:spcBef>
                <a:spcPts val="667"/>
              </a:spcBef>
              <a:spcAft>
                <a:spcPts val="667"/>
              </a:spcAft>
            </a:pPr>
            <a:endParaRPr dirty="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9" name="Google Shape;119;g29e9f77689c_4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114441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9e9f77689c_4_120"/>
          <p:cNvSpPr txBox="1"/>
          <p:nvPr/>
        </p:nvSpPr>
        <p:spPr>
          <a:xfrm>
            <a:off x="964633" y="197509"/>
            <a:ext cx="9482000" cy="97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n-US" sz="2400" b="1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rPr>
              <a:t>Cardiologia: Insuficiência cardíaca e Cardiomiopatias</a:t>
            </a:r>
            <a:endParaRPr sz="2400" b="1">
              <a:solidFill>
                <a:schemeClr val="lt1"/>
              </a:solidFill>
              <a:latin typeface="Philosopher"/>
              <a:ea typeface="Philosopher"/>
              <a:cs typeface="Philosopher"/>
              <a:sym typeface="Philosopher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4800"/>
            </a:pPr>
            <a:endParaRPr sz="2400" b="1">
              <a:solidFill>
                <a:schemeClr val="lt1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pic>
        <p:nvPicPr>
          <p:cNvPr id="121" name="Google Shape;121;g29e9f77689c_4_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1992" y="307467"/>
            <a:ext cx="1090126" cy="51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9e9f77689c_4_120"/>
          <p:cNvSpPr txBox="1"/>
          <p:nvPr/>
        </p:nvSpPr>
        <p:spPr>
          <a:xfrm>
            <a:off x="964633" y="618717"/>
            <a:ext cx="10505200" cy="42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Carga </a:t>
            </a:r>
            <a:r>
              <a:rPr lang="en-US" sz="1733" dirty="0" err="1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horária</a:t>
            </a: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: </a:t>
            </a:r>
            <a:r>
              <a:rPr lang="en-US" sz="1733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360h</a:t>
            </a: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  |   </a:t>
            </a:r>
            <a:r>
              <a:rPr lang="en-US" sz="1733" dirty="0" err="1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Modalidade</a:t>
            </a:r>
            <a:r>
              <a:rPr lang="en-US" sz="1733" dirty="0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: </a:t>
            </a:r>
            <a:r>
              <a:rPr lang="en-US" sz="1733" b="1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Presencial</a:t>
            </a:r>
            <a:r>
              <a:rPr lang="en-US" sz="1733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endParaRPr sz="1733" dirty="0">
              <a:solidFill>
                <a:schemeClr val="lt1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123" name="Google Shape;123;g29e9f77689c_4_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3501" y="338983"/>
            <a:ext cx="12192" cy="5852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g29e9f77689c_4_120"/>
          <p:cNvGrpSpPr/>
          <p:nvPr/>
        </p:nvGrpSpPr>
        <p:grpSpPr>
          <a:xfrm>
            <a:off x="152438" y="381685"/>
            <a:ext cx="591462" cy="499808"/>
            <a:chOff x="6158577" y="5428184"/>
            <a:chExt cx="284002" cy="240008"/>
          </a:xfrm>
        </p:grpSpPr>
        <p:sp>
          <p:nvSpPr>
            <p:cNvPr id="125" name="Google Shape;125;g29e9f77689c_4_120"/>
            <p:cNvSpPr/>
            <p:nvPr/>
          </p:nvSpPr>
          <p:spPr>
            <a:xfrm>
              <a:off x="6166551" y="5428184"/>
              <a:ext cx="276028" cy="240008"/>
            </a:xfrm>
            <a:custGeom>
              <a:avLst/>
              <a:gdLst/>
              <a:ahLst/>
              <a:cxnLst/>
              <a:rect l="l" t="t" r="r" b="b"/>
              <a:pathLst>
                <a:path w="8100" h="7043" extrusionOk="0">
                  <a:moveTo>
                    <a:pt x="2155" y="0"/>
                  </a:moveTo>
                  <a:cubicBezTo>
                    <a:pt x="805" y="0"/>
                    <a:pt x="0" y="1272"/>
                    <a:pt x="0" y="2518"/>
                  </a:cubicBezTo>
                  <a:cubicBezTo>
                    <a:pt x="0" y="2830"/>
                    <a:pt x="52" y="3141"/>
                    <a:pt x="182" y="3427"/>
                  </a:cubicBezTo>
                  <a:cubicBezTo>
                    <a:pt x="209" y="3481"/>
                    <a:pt x="255" y="3504"/>
                    <a:pt x="300" y="3504"/>
                  </a:cubicBezTo>
                  <a:cubicBezTo>
                    <a:pt x="385" y="3504"/>
                    <a:pt x="466" y="3424"/>
                    <a:pt x="416" y="3323"/>
                  </a:cubicBezTo>
                  <a:cubicBezTo>
                    <a:pt x="312" y="3063"/>
                    <a:pt x="260" y="2778"/>
                    <a:pt x="260" y="2518"/>
                  </a:cubicBezTo>
                  <a:cubicBezTo>
                    <a:pt x="260" y="1428"/>
                    <a:pt x="909" y="260"/>
                    <a:pt x="2155" y="260"/>
                  </a:cubicBezTo>
                  <a:cubicBezTo>
                    <a:pt x="2856" y="260"/>
                    <a:pt x="3531" y="597"/>
                    <a:pt x="3946" y="1194"/>
                  </a:cubicBezTo>
                  <a:cubicBezTo>
                    <a:pt x="3972" y="1220"/>
                    <a:pt x="3998" y="1246"/>
                    <a:pt x="4050" y="1246"/>
                  </a:cubicBezTo>
                  <a:cubicBezTo>
                    <a:pt x="4102" y="1246"/>
                    <a:pt x="4128" y="1220"/>
                    <a:pt x="4154" y="1194"/>
                  </a:cubicBezTo>
                  <a:cubicBezTo>
                    <a:pt x="4595" y="623"/>
                    <a:pt x="5244" y="260"/>
                    <a:pt x="5971" y="260"/>
                  </a:cubicBezTo>
                  <a:cubicBezTo>
                    <a:pt x="7191" y="260"/>
                    <a:pt x="7866" y="1428"/>
                    <a:pt x="7866" y="2518"/>
                  </a:cubicBezTo>
                  <a:cubicBezTo>
                    <a:pt x="7866" y="3479"/>
                    <a:pt x="7088" y="4206"/>
                    <a:pt x="6620" y="4647"/>
                  </a:cubicBezTo>
                  <a:cubicBezTo>
                    <a:pt x="6542" y="4699"/>
                    <a:pt x="6490" y="4777"/>
                    <a:pt x="6439" y="4829"/>
                  </a:cubicBezTo>
                  <a:cubicBezTo>
                    <a:pt x="6283" y="4958"/>
                    <a:pt x="5867" y="5296"/>
                    <a:pt x="5426" y="5608"/>
                  </a:cubicBezTo>
                  <a:cubicBezTo>
                    <a:pt x="4933" y="5945"/>
                    <a:pt x="4491" y="6308"/>
                    <a:pt x="4050" y="6698"/>
                  </a:cubicBezTo>
                  <a:cubicBezTo>
                    <a:pt x="3791" y="6438"/>
                    <a:pt x="3479" y="6205"/>
                    <a:pt x="3193" y="5997"/>
                  </a:cubicBezTo>
                  <a:cubicBezTo>
                    <a:pt x="3169" y="5982"/>
                    <a:pt x="3145" y="5976"/>
                    <a:pt x="3122" y="5976"/>
                  </a:cubicBezTo>
                  <a:cubicBezTo>
                    <a:pt x="3023" y="5976"/>
                    <a:pt x="2953" y="6094"/>
                    <a:pt x="3038" y="6179"/>
                  </a:cubicBezTo>
                  <a:cubicBezTo>
                    <a:pt x="3739" y="6724"/>
                    <a:pt x="3894" y="6906"/>
                    <a:pt x="3946" y="6957"/>
                  </a:cubicBezTo>
                  <a:cubicBezTo>
                    <a:pt x="3946" y="7009"/>
                    <a:pt x="3998" y="7035"/>
                    <a:pt x="4050" y="7035"/>
                  </a:cubicBezTo>
                  <a:cubicBezTo>
                    <a:pt x="4060" y="7040"/>
                    <a:pt x="4069" y="7042"/>
                    <a:pt x="4079" y="7042"/>
                  </a:cubicBezTo>
                  <a:cubicBezTo>
                    <a:pt x="4120" y="7042"/>
                    <a:pt x="4159" y="7000"/>
                    <a:pt x="4180" y="6957"/>
                  </a:cubicBezTo>
                  <a:cubicBezTo>
                    <a:pt x="4258" y="6802"/>
                    <a:pt x="5063" y="6205"/>
                    <a:pt x="5582" y="5815"/>
                  </a:cubicBezTo>
                  <a:cubicBezTo>
                    <a:pt x="5945" y="5556"/>
                    <a:pt x="6309" y="5296"/>
                    <a:pt x="6620" y="5010"/>
                  </a:cubicBezTo>
                  <a:lnTo>
                    <a:pt x="6802" y="4829"/>
                  </a:lnTo>
                  <a:cubicBezTo>
                    <a:pt x="7295" y="4361"/>
                    <a:pt x="8100" y="3583"/>
                    <a:pt x="8100" y="2518"/>
                  </a:cubicBezTo>
                  <a:cubicBezTo>
                    <a:pt x="8100" y="1272"/>
                    <a:pt x="7295" y="0"/>
                    <a:pt x="5945" y="0"/>
                  </a:cubicBezTo>
                  <a:cubicBezTo>
                    <a:pt x="5218" y="0"/>
                    <a:pt x="4517" y="338"/>
                    <a:pt x="4050" y="909"/>
                  </a:cubicBezTo>
                  <a:cubicBezTo>
                    <a:pt x="3583" y="338"/>
                    <a:pt x="2882" y="0"/>
                    <a:pt x="2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9e9f77689c_4_120"/>
            <p:cNvSpPr/>
            <p:nvPr/>
          </p:nvSpPr>
          <p:spPr>
            <a:xfrm>
              <a:off x="6198380" y="5573695"/>
              <a:ext cx="41609" cy="38508"/>
            </a:xfrm>
            <a:custGeom>
              <a:avLst/>
              <a:gdLst/>
              <a:ahLst/>
              <a:cxnLst/>
              <a:rect l="l" t="t" r="r" b="b"/>
              <a:pathLst>
                <a:path w="1221" h="1130" extrusionOk="0">
                  <a:moveTo>
                    <a:pt x="144" y="1"/>
                  </a:moveTo>
                  <a:cubicBezTo>
                    <a:pt x="111" y="1"/>
                    <a:pt x="79" y="14"/>
                    <a:pt x="53" y="39"/>
                  </a:cubicBezTo>
                  <a:cubicBezTo>
                    <a:pt x="1" y="91"/>
                    <a:pt x="1" y="169"/>
                    <a:pt x="53" y="221"/>
                  </a:cubicBezTo>
                  <a:cubicBezTo>
                    <a:pt x="157" y="351"/>
                    <a:pt x="260" y="455"/>
                    <a:pt x="364" y="559"/>
                  </a:cubicBezTo>
                  <a:lnTo>
                    <a:pt x="546" y="740"/>
                  </a:lnTo>
                  <a:cubicBezTo>
                    <a:pt x="702" y="870"/>
                    <a:pt x="832" y="974"/>
                    <a:pt x="987" y="1104"/>
                  </a:cubicBezTo>
                  <a:cubicBezTo>
                    <a:pt x="1013" y="1104"/>
                    <a:pt x="1039" y="1130"/>
                    <a:pt x="1065" y="1130"/>
                  </a:cubicBezTo>
                  <a:cubicBezTo>
                    <a:pt x="1117" y="1130"/>
                    <a:pt x="1143" y="1104"/>
                    <a:pt x="1169" y="1078"/>
                  </a:cubicBezTo>
                  <a:cubicBezTo>
                    <a:pt x="1221" y="1026"/>
                    <a:pt x="1221" y="948"/>
                    <a:pt x="1143" y="896"/>
                  </a:cubicBezTo>
                  <a:cubicBezTo>
                    <a:pt x="961" y="740"/>
                    <a:pt x="780" y="611"/>
                    <a:pt x="728" y="559"/>
                  </a:cubicBezTo>
                  <a:cubicBezTo>
                    <a:pt x="676" y="507"/>
                    <a:pt x="650" y="481"/>
                    <a:pt x="546" y="377"/>
                  </a:cubicBezTo>
                  <a:cubicBezTo>
                    <a:pt x="442" y="273"/>
                    <a:pt x="338" y="169"/>
                    <a:pt x="234" y="39"/>
                  </a:cubicBezTo>
                  <a:cubicBezTo>
                    <a:pt x="209" y="14"/>
                    <a:pt x="176" y="1"/>
                    <a:pt x="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9e9f77689c_4_120"/>
            <p:cNvSpPr/>
            <p:nvPr/>
          </p:nvSpPr>
          <p:spPr>
            <a:xfrm>
              <a:off x="6158577" y="5468873"/>
              <a:ext cx="194651" cy="177850"/>
            </a:xfrm>
            <a:custGeom>
              <a:avLst/>
              <a:gdLst/>
              <a:ahLst/>
              <a:cxnLst/>
              <a:rect l="l" t="t" r="r" b="b"/>
              <a:pathLst>
                <a:path w="5712" h="5219" extrusionOk="0">
                  <a:moveTo>
                    <a:pt x="1844" y="0"/>
                  </a:moveTo>
                  <a:cubicBezTo>
                    <a:pt x="1792" y="0"/>
                    <a:pt x="1740" y="26"/>
                    <a:pt x="1714" y="78"/>
                  </a:cubicBezTo>
                  <a:lnTo>
                    <a:pt x="1013" y="2700"/>
                  </a:lnTo>
                  <a:lnTo>
                    <a:pt x="130" y="2700"/>
                  </a:lnTo>
                  <a:cubicBezTo>
                    <a:pt x="53" y="2700"/>
                    <a:pt x="1" y="2778"/>
                    <a:pt x="1" y="2830"/>
                  </a:cubicBezTo>
                  <a:cubicBezTo>
                    <a:pt x="1" y="2908"/>
                    <a:pt x="53" y="2960"/>
                    <a:pt x="130" y="2960"/>
                  </a:cubicBezTo>
                  <a:lnTo>
                    <a:pt x="1091" y="2960"/>
                  </a:lnTo>
                  <a:cubicBezTo>
                    <a:pt x="1143" y="2960"/>
                    <a:pt x="1195" y="2934"/>
                    <a:pt x="1221" y="2882"/>
                  </a:cubicBezTo>
                  <a:lnTo>
                    <a:pt x="1818" y="701"/>
                  </a:lnTo>
                  <a:lnTo>
                    <a:pt x="2623" y="5114"/>
                  </a:lnTo>
                  <a:cubicBezTo>
                    <a:pt x="2623" y="5166"/>
                    <a:pt x="2675" y="5218"/>
                    <a:pt x="2726" y="5218"/>
                  </a:cubicBezTo>
                  <a:cubicBezTo>
                    <a:pt x="2778" y="5218"/>
                    <a:pt x="2830" y="5192"/>
                    <a:pt x="2856" y="5140"/>
                  </a:cubicBezTo>
                  <a:lnTo>
                    <a:pt x="3895" y="1999"/>
                  </a:lnTo>
                  <a:lnTo>
                    <a:pt x="4284" y="2960"/>
                  </a:lnTo>
                  <a:cubicBezTo>
                    <a:pt x="4310" y="3012"/>
                    <a:pt x="4362" y="3038"/>
                    <a:pt x="4414" y="3038"/>
                  </a:cubicBezTo>
                  <a:lnTo>
                    <a:pt x="5582" y="3038"/>
                  </a:lnTo>
                  <a:cubicBezTo>
                    <a:pt x="5660" y="3038"/>
                    <a:pt x="5712" y="2986"/>
                    <a:pt x="5712" y="2908"/>
                  </a:cubicBezTo>
                  <a:cubicBezTo>
                    <a:pt x="5712" y="2830"/>
                    <a:pt x="5660" y="2778"/>
                    <a:pt x="5582" y="2778"/>
                  </a:cubicBezTo>
                  <a:lnTo>
                    <a:pt x="4518" y="2778"/>
                  </a:lnTo>
                  <a:lnTo>
                    <a:pt x="3999" y="1584"/>
                  </a:lnTo>
                  <a:cubicBezTo>
                    <a:pt x="3973" y="1532"/>
                    <a:pt x="3927" y="1506"/>
                    <a:pt x="3882" y="1506"/>
                  </a:cubicBezTo>
                  <a:cubicBezTo>
                    <a:pt x="3836" y="1506"/>
                    <a:pt x="3791" y="1532"/>
                    <a:pt x="3765" y="1584"/>
                  </a:cubicBezTo>
                  <a:lnTo>
                    <a:pt x="2778" y="4569"/>
                  </a:lnTo>
                  <a:lnTo>
                    <a:pt x="1974" y="104"/>
                  </a:lnTo>
                  <a:cubicBezTo>
                    <a:pt x="1974" y="52"/>
                    <a:pt x="1922" y="0"/>
                    <a:pt x="1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46</Words>
  <Application>Microsoft Office PowerPoint</Application>
  <PresentationFormat>Widescreen</PresentationFormat>
  <Paragraphs>16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Philosopher</vt:lpstr>
      <vt:lpstr>Ubuntu</vt:lpstr>
      <vt:lpstr>Ubuntu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Dagma Appel Gonçalves</dc:creator>
  <cp:lastModifiedBy>Elisangela Patricia dos Santos de Freitas</cp:lastModifiedBy>
  <cp:revision>5</cp:revision>
  <dcterms:created xsi:type="dcterms:W3CDTF">2024-01-16T15:32:41Z</dcterms:created>
  <dcterms:modified xsi:type="dcterms:W3CDTF">2025-02-12T18:23:15Z</dcterms:modified>
</cp:coreProperties>
</file>